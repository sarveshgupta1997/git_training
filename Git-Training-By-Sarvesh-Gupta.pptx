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2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44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set expectations: 60-minute hands-on Git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 — foundations first, then hands-on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 everyone recognizes: manual file-naming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Git precisely before moving on. Emphasize distributed + local-first as the two ideas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 point. Make the distinction crisp: Git = tool, GitHub/GitLab = hosted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slide. If people internalize the four-state model, every command becomes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loop they'll run hundreds of times. Say each command out loud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run git config now if they haven't already.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slide people screenshot. Don't rush it, but don't over-explain either — slide 22 repeats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people share their worst-ever commit message for a laugh, then contrast with the DO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analogy: branches are like save-states in a game — free to create, cheap to throw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merge outcomes: fast-forward (simple) vs three-way (creates a merge commit).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conflicts are normal, not a failure state. Walk through the markers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vertical timeline top to bottom, then point out the GitHub/GitLab naming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trips up a lot of people. Repeat the analogy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on the danger box. This is the slide that prevents disasters.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diff --staged is the pre-commit review step most people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every command back to the earlier slides — this is the same five-step loop plus branching and PRs.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vote on which three they'll actually adopt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incidents that actually happen on real teams. Slow down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 run these commands live. Narrate what git status shows at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take-home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slide before Q&amp;A. Read all eight aloud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Use the starter questions if the room is quiet.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274320"/>
            <a:ext cx="5120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0" b="1" dirty="0">
                <a:solidFill>
                  <a:srgbClr val="16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9692640" y="502920"/>
            <a:ext cx="1234440" cy="1234440"/>
          </a:xfrm>
          <a:prstGeom prst="ellipse">
            <a:avLst/>
          </a:prstGeom>
          <a:solidFill>
            <a:srgbClr val="171A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502920" cy="32004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896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60-MINUTE DEVELOPER WORKSHOP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modern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7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r>
              <a:rPr lang="en-US" sz="1700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branching, merging &amp; collaboration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4700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Sarvesh Gupta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5138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5358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DTSS Team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5797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6016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</a:t>
            </a: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     ·     DAILY PRACTICE     ·     COLLABORATION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topics in roughly 45 minutes. We'll move from the "why" of Git, through the mental model, into the daily commands you'll actually use.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0" y="16002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938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40-45 min  </a:t>
            </a:r>
            <a:r>
              <a:rPr lang="en-US" sz="1100" dirty="0" smtClean="0">
                <a:solidFill>
                  <a:srgbClr val="8A93A2"/>
                </a:solidFill>
              </a:rPr>
              <a:t>Slides</a:t>
            </a:r>
            <a:r>
              <a:rPr lang="en-US" sz="1100" dirty="0">
                <a:solidFill>
                  <a:srgbClr val="8A93A2"/>
                </a:solidFill>
              </a:rPr>
              <a:t>
</a:t>
            </a:r>
            <a:r>
              <a:rPr lang="en-US" sz="11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10-15 min  </a:t>
            </a:r>
            <a:r>
              <a:rPr lang="en-US" sz="1100" dirty="0" smtClean="0">
                <a:solidFill>
                  <a:srgbClr val="8A93A2"/>
                </a:solidFill>
              </a:rPr>
              <a:t>Q&amp;A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FOUNDATIONS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804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804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version control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6804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 vs GitLab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491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5491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5491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83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 &amp; setup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min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178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4178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54178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52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852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&amp; messages that tell a story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5852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PRACTICE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6804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6804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78440" y="36804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37844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45491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5491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/ merge requests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378440" y="45491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4983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mistakes safely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378440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min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172200" y="54178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54178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workflow &amp; best practices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378440" y="54178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min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172200" y="5852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629400" y="5852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378440" y="5852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7-10 min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80760" y="2880360"/>
            <a:ext cx="0" cy="32918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version control,</a:t>
            </a:r>
            <a:endParaRPr lang="en-US" sz="32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is a guess.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29200" cy="356616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GIT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108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project.zip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584448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584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project-final.zip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059936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10151C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0599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project-final-NEW.zip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10151C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35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project-final-final.zip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010912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010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trike="sngStrike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project-final-final-real.zip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86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unknown which is current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impossible to merge changes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who changed what, and when?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2514600"/>
            <a:ext cx="5852160" cy="356616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GIT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017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folder. Every change recorded, attributed, reversible.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35040" y="3703320"/>
            <a:ext cx="26060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3867912"/>
            <a:ext cx="73152" cy="7315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23960" y="3703320"/>
            <a:ext cx="26060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88552" y="3867912"/>
            <a:ext cx="73152" cy="7315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0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form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4233672"/>
            <a:ext cx="26060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4398264"/>
            <a:ext cx="73152" cy="7315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233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validation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23960" y="4233672"/>
            <a:ext cx="26060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88552" y="4398264"/>
            <a:ext cx="73152" cy="7315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0" y="4233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auth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4764024"/>
            <a:ext cx="26060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4928616"/>
            <a:ext cx="73152" cy="7315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55080" y="47640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logout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23960" y="4764024"/>
            <a:ext cx="2606040" cy="411480"/>
          </a:xfrm>
          <a:prstGeom prst="roundRect">
            <a:avLst>
              <a:gd name="adj" fmla="val 4888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88552" y="4928616"/>
            <a:ext cx="73152" cy="7315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4000" y="47640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v1.2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5486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step is a story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step is reversible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DEFINITION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Git?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05156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tracks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your source code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lets many people collaborate.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CREATED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by Linus Torvalds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Linux kernel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3383280"/>
            <a:ext cx="0" cy="1463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DESIGNED FOR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non-linear work,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thousands of parallel branches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3383280"/>
            <a:ext cx="0" cy="1463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LOCAL FIRST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has a full copy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history — no server required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built to replace BitKeeper when its free-license status was revoked in 2005. </a:t>
            </a: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qualities: speed, simple design, fully distributed, strong support for non-linear development.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THEY ARE NOT THE SAME THING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engine. </a:t>
            </a:r>
            <a:r>
              <a:rPr lang="en-US" sz="34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 around it.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365760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3566160" cy="41148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TOOL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version-control tool that runs entirely on your machine.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changes, branches, history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82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 (GPL)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by default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77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UI, no web, no accounts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2468880"/>
            <a:ext cx="3566160" cy="365760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468880"/>
            <a:ext cx="3566160" cy="41148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· SERVICE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platform that hosts Git repos and adds collaboration on top.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· Pull requests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782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projects, Actions (CI/CD)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teams, permissions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477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Microsoft since 2018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2468880"/>
            <a:ext cx="3566160" cy="365760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468880"/>
            <a:ext cx="3566160" cy="411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· DEVOPS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Git-based DevOps platform with deep built-in CI/CD.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· Merge requests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782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CI/CD pipelines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security scanning, deploys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5477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en-US" sz="11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or SaaS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MENTAL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local areas, one remote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Git moves between four states. Internalize this once and every later command makes sense.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6040" cy="2331720"/>
          </a:xfrm>
          <a:prstGeom prst="roundRect">
            <a:avLst>
              <a:gd name="adj" fmla="val 2353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80360"/>
            <a:ext cx="41148" cy="2331720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files on disk. What you edit in your editor.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change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untracked or modified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74720" y="2880360"/>
            <a:ext cx="2606040" cy="2331720"/>
          </a:xfrm>
          <a:prstGeom prst="roundRect">
            <a:avLst>
              <a:gd name="adj" fmla="val 2353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880360"/>
            <a:ext cx="41148" cy="2331720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0332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of the next commit. Files you've marked "go in."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4617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file.txt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staged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99048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2880360"/>
            <a:ext cx="2606040" cy="2331720"/>
          </a:xfrm>
          <a:prstGeom prst="roundRect">
            <a:avLst>
              <a:gd name="adj" fmla="val 2353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880360"/>
            <a:ext cx="41148" cy="2331720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.git database — every commit, stored locally.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617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committed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326880" y="2880360"/>
            <a:ext cx="2606040" cy="2331720"/>
          </a:xfrm>
          <a:prstGeom prst="roundRect">
            <a:avLst>
              <a:gd name="adj" fmla="val 2353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0" y="2880360"/>
            <a:ext cx="41148" cy="2331720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5548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GitLab, internal server. Shared source of truth.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55480" y="4617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/ git pull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shared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40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</a:t>
            </a:r>
            <a:r>
              <a:rPr lang="en-US" sz="12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fetches remote changes &amp; integrates them into your local repo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push changes forward        ←  pull changes back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every step is reversible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EVERYDAY LOOP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commands you'll type every day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something, see what changed, choose what goes in, snapshot it, share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2862072"/>
            <a:ext cx="91440" cy="91440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EDIT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27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files</a:t>
            </a:r>
            <a:r>
              <a:rPr lang="en-US" sz="1300" dirty="0">
                <a:solidFill>
                  <a:srgbClr val="8A93A2"/>
                </a:solidFill>
              </a:rPr>
              <a:t>  in your editor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89320" y="2926080"/>
            <a:ext cx="0" cy="50292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29260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normally. Save them. Nothing has been recorded yet.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INSPECT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13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89320" y="3611880"/>
            <a:ext cx="0" cy="50292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36118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changed and what's about to be committed. Your "what's happening?" command.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STAGE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98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989320" y="4297680"/>
            <a:ext cx="0" cy="50292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42976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change into the staging area, ready for the next commit. Use git add . for everything in the current folder.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COMMIT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84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989320" y="4983480"/>
            <a:ext cx="0" cy="50292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49834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staged changes into your local history. Write a meaningful message.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SHARE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870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5989320" y="5669280"/>
            <a:ext cx="0" cy="50292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56692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up to the remote (GitHub/GitLab/...). Your teammates can now pull them.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DAY ONE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Git up &amp; create your first repo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to install your identity, then either create a fresh repo or copy one that already exists.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TIME ONLY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who you are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84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name &amp; email globally. They ride on every commit you create.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 </a:t>
            </a:r>
            <a:r>
              <a:rPr lang="en-US" sz="105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Name"</a:t>
            </a: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</a:t>
            </a:r>
            <a:r>
              <a:rPr lang="en-US" sz="105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"you@example.com"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settings live in </a:t>
            </a:r>
            <a:r>
              <a:rPr lang="en-US" sz="1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~/.gitconfig</a:t>
            </a: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apply to every repo. Drop </a:t>
            </a:r>
            <a:r>
              <a:rPr lang="en-US" sz="1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r>
              <a:rPr lang="en-US" sz="11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override per-repo.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FROM SCRATCH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new repo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361188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
$ git 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43484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AN EXISTING ONE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873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remote repo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2240" y="53035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5349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&lt;repository-url&gt;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DAILY VOCABULARY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you'll actually use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commands. Twelve plain-English descriptions. Screenshot this slide.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73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what's changed &amp; what's staged. Read-only.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4992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3273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file. Use . for the whole folder.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3273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staged changes into history.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97696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2288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62288" y="3273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commits to the remote repository.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178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507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integrate remote changes into your branch.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64992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9584" y="4178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29584" y="4507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remote changes without merging them.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45936" y="4178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4507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 (with full history) onto your machine.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97696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62288" y="4178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62288" y="4507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commit history, one line per commit.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5742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un-staged changes line-by-line. Use --staged for staged ones.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29584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529584" y="5742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local branches. Use -d name to delete.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&lt;branch&gt;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45936" y="5742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branch. Add -c to create it.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97696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62288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162288" y="5742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another branch into your current one.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ATOMIC SNAPSHOTS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one idea, not one afternoon.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log is read by humans — including you, six months from now. Write it like prose.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user authentication validation"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58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"Fix crash on empty input in signup form"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256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"Refactor user model into auth module"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38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Imperative present tense ("Add", not "Added")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"changes"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"stuff"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"fixed some things"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Vague, mood-only, future-self-hostile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 COMMITS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commit, one logical change. If a feature touches login forms </a:t>
            </a:r>
            <a:r>
              <a:rPr lang="en-US" sz="13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dashboard, that's two commits — not because we love ceremonies, but because we'll want to revert one without the other.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PARALLEL UNIVERSES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are cheap. Use them often.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movable pointer to a commit. Creating one is essentially free. Merging it back is the moment work joins the team.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6949440" cy="0"/>
          </a:xfrm>
          <a:prstGeom prst="line">
            <a:avLst/>
          </a:prstGeom>
          <a:noFill/>
          <a:ln w="25400">
            <a:solidFill>
              <a:srgbClr val="FF7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3374136"/>
            <a:ext cx="118872" cy="11887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8" name="Shape 6"/>
          <p:cNvSpPr/>
          <p:nvPr/>
        </p:nvSpPr>
        <p:spPr>
          <a:xfrm>
            <a:off x="2139696" y="3374136"/>
            <a:ext cx="118872" cy="11887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74136"/>
            <a:ext cx="118872" cy="11887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0" name="Shape 8"/>
          <p:cNvSpPr/>
          <p:nvPr/>
        </p:nvSpPr>
        <p:spPr>
          <a:xfrm>
            <a:off x="5431536" y="3374136"/>
            <a:ext cx="118872" cy="11887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1" name="Shape 9"/>
          <p:cNvSpPr/>
          <p:nvPr/>
        </p:nvSpPr>
        <p:spPr>
          <a:xfrm>
            <a:off x="7077456" y="3374136"/>
            <a:ext cx="118872" cy="11887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6949440" cy="0"/>
          </a:xfrm>
          <a:prstGeom prst="line">
            <a:avLst/>
          </a:prstGeom>
          <a:noFill/>
          <a:ln w="25400">
            <a:solidFill>
              <a:srgbClr val="3EDC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4379976"/>
            <a:ext cx="118872" cy="11887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8336" y="4379976"/>
            <a:ext cx="118872" cy="11887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2896" y="4379976"/>
            <a:ext cx="118872" cy="11887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77456" y="4379976"/>
            <a:ext cx="118872" cy="11887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69494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5294376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077456" y="5294376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bugfix/navbar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3429000"/>
            <a:ext cx="0" cy="100584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108960" y="3429000"/>
            <a:ext cx="0" cy="192024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863840" y="2880360"/>
            <a:ext cx="3749040" cy="3520440"/>
          </a:xfrm>
          <a:prstGeom prst="roundRect">
            <a:avLst>
              <a:gd name="adj" fmla="val 155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92440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3310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local branches &amp; their names.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4315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a new branch in one move.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5074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back to main without losing work.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5486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</a:t>
            </a: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5760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fully-merged branch. -D forces if unmerged.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JOINING WORK BACK TOGETHER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combines two histories.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almost always merge from your feature branch </a:t>
            </a:r>
            <a:r>
              <a:rPr lang="en-US" sz="14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main. Watch the diagram, then run the two commands.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3383280"/>
            <a:ext cx="6949440" cy="0"/>
          </a:xfrm>
          <a:prstGeom prst="line">
            <a:avLst/>
          </a:prstGeom>
          <a:noFill/>
          <a:ln w="25400">
            <a:solidFill>
              <a:srgbClr val="FF7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4389120"/>
            <a:ext cx="4572000" cy="0"/>
          </a:xfrm>
          <a:prstGeom prst="line">
            <a:avLst/>
          </a:prstGeom>
          <a:noFill/>
          <a:ln w="25400">
            <a:solidFill>
              <a:srgbClr val="3EDC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3383280"/>
            <a:ext cx="0" cy="100584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178040" y="3383280"/>
            <a:ext cx="0" cy="100584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6152" y="3319272"/>
            <a:ext cx="128016" cy="128016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1" name="Shape 9"/>
          <p:cNvSpPr/>
          <p:nvPr/>
        </p:nvSpPr>
        <p:spPr>
          <a:xfrm>
            <a:off x="2542032" y="3319272"/>
            <a:ext cx="128016" cy="128016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71032" y="3319272"/>
            <a:ext cx="128016" cy="128016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7114032" y="3319272"/>
            <a:ext cx="128016" cy="128016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14" name="Shape 12"/>
          <p:cNvSpPr/>
          <p:nvPr/>
        </p:nvSpPr>
        <p:spPr>
          <a:xfrm>
            <a:off x="7114032" y="3319272"/>
            <a:ext cx="146304" cy="146304"/>
          </a:xfrm>
          <a:prstGeom prst="ellipse">
            <a:avLst/>
          </a:prstGeom>
          <a:solidFill>
            <a:srgbClr val="FF7A50"/>
          </a:solidFill>
          <a:ln w="19050">
            <a:solidFill>
              <a:srgbClr val="F3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4325112"/>
            <a:ext cx="128016" cy="128016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6" name="Shape 14"/>
          <p:cNvSpPr/>
          <p:nvPr/>
        </p:nvSpPr>
        <p:spPr>
          <a:xfrm>
            <a:off x="3913632" y="4325112"/>
            <a:ext cx="128016" cy="128016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7" name="Shape 15"/>
          <p:cNvSpPr/>
          <p:nvPr/>
        </p:nvSpPr>
        <p:spPr>
          <a:xfrm>
            <a:off x="5285232" y="4325112"/>
            <a:ext cx="128016" cy="128016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4032" y="4325112"/>
            <a:ext cx="128016" cy="128016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93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22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main hasn't moved, just slide the pointer.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87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merge commit. History stays linear.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50749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5193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THREE-WAY MERGE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422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moved: a merge commit joins.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687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produce conflicts — next slide.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72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
$ git merge feature/login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WHEN GIT CAN'T DECIDE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normal. The fix is six steps.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happens when two branches touched the same lines differently. Git asks you, a human, to be the judge.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THE FILE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
</a:t>
            </a:r>
            <a:r>
              <a:rPr lang="en-US" sz="125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Dashboard
</a:t>
            </a:r>
            <a:r>
              <a:rPr lang="en-US" sz="12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
</a:t>
            </a:r>
            <a:r>
              <a:rPr lang="en-US" sz="12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User Dashboard
</a:t>
            </a:r>
            <a:r>
              <a:rPr lang="en-US" sz="125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feature/dashboard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block: </a:t>
            </a:r>
            <a:r>
              <a:rPr lang="en-US" sz="105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branch (HEAD)</a:t>
            </a: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Bottom block: </a:t>
            </a:r>
            <a:r>
              <a:rPr lang="en-US" sz="1050" b="1" dirty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you're merging in</a:t>
            </a: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Choose what to keep, delete the markers, save.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2880360"/>
            <a:ext cx="5257800" cy="3429000"/>
          </a:xfrm>
          <a:prstGeom prst="roundRect">
            <a:avLst>
              <a:gd name="adj" fmla="val 1600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 IN SIX STEPS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conflicted file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8953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895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keep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361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361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conflict markers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828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828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the file still works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2943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resolved file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5760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to finalize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HOW TEAMS MERGE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 / MR is a conversation, not a button.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on GitHub. Merge Request on GitLab. Same plumbing — different names.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990088"/>
            <a:ext cx="118872" cy="11887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3108960"/>
            <a:ext cx="0" cy="320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862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trunk, deployed state.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862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3547872"/>
            <a:ext cx="0" cy="320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300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47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 main; name it descriptively.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3867912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" y="3986784"/>
            <a:ext cx="0" cy="320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739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commit locally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86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status, add, commit — repeatedly.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4306824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" y="4425696"/>
            <a:ext cx="0" cy="320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branch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256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commits to the remote so CI can see them.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4745736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" y="4864608"/>
            <a:ext cx="0" cy="320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/ Merge Request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8646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title &amp; description. Reference the ticket.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544" y="5303520"/>
            <a:ext cx="0" cy="32004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34440" y="5056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CI checks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303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comment; CI builds &amp; tests.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8680" y="5623560"/>
            <a:ext cx="118872" cy="118872"/>
          </a:xfrm>
          <a:prstGeom prst="ellipse">
            <a:avLst/>
          </a:prstGeom>
          <a:solidFill>
            <a:srgbClr val="3EDCA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34440" y="5495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main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742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Squash, merge, or rebase — then delete the branch.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4955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23760" y="310896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523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840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pull my changes into your branch."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784080" y="310896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1268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01268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012680" y="3840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merge my changes into target."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SAME LETTERS, DIFFERENT VERBS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peeks. </a:t>
            </a:r>
            <a:r>
              <a:rPr lang="en-US" sz="34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integrates.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download from the remote. Only one of them touches your working branch.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LOOK, DON'T TOUCH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remote changes into your local copy without merging them into your current branch.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your email — but don't reply yet."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 want to see what's happening upstream before deciding.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12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log origin/main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ready: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merge origin/main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&amp; MERGE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035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611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both: fetch from remote, then immediately merge into your current branch.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your email — and reply with 'got it'."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you're ready to integrate remote work right now.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212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shorthand for: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fetch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merge origin/main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</a:t>
            </a:r>
            <a:r>
              <a:rPr lang="en-US" sz="12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 </a:t>
            </a:r>
            <a:r>
              <a:rPr lang="en-US" sz="12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inspect when something looks hairy on the remote.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RECOVER GRACEFULLY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undo. Some rewrites history.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four jobs. Reach for the cheapest one that fits, never </a:t>
            </a:r>
            <a:r>
              <a:rPr lang="en-US" sz="14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</a:t>
            </a: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shared branch.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03520" cy="1170432"/>
          </a:xfrm>
          <a:prstGeom prst="roundRect">
            <a:avLst>
              <a:gd name="adj" fmla="val 468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41148" cy="1170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UNSTAGED FILES · SAFE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44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&lt;file&gt;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284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away local edits in the working directory. File goes back to last commit. Local-only. Safe.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2743200"/>
            <a:ext cx="5303520" cy="1170432"/>
          </a:xfrm>
          <a:prstGeom prst="roundRect">
            <a:avLst>
              <a:gd name="adj" fmla="val 468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743200"/>
            <a:ext cx="41148" cy="1170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834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STAGED FILE · SAFE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044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&lt;file&gt;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3284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Un-stage a file but keep its edits in the working directory. Nothing is lost.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03520" cy="1170432"/>
          </a:xfrm>
          <a:prstGeom prst="roundRect">
            <a:avLst>
              <a:gd name="adj" fmla="val 468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9080"/>
            <a:ext cx="41148" cy="1170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HISTORY · SAFEST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&lt;commit-sha&gt;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654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commit that undoes the changes of an older one. History preserved. Use this on shared branches.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4069080"/>
            <a:ext cx="5303520" cy="1170432"/>
          </a:xfrm>
          <a:prstGeom prst="roundRect">
            <a:avLst>
              <a:gd name="adj" fmla="val 468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4069080"/>
            <a:ext cx="41148" cy="1170432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4160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HISTORY · DANGEROUS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&lt;commit&gt;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654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HEAD back. --hard also discards working changes. Never on shared branches.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F1315"/>
          </a:solidFill>
          <a:ln w="12700">
            <a:solidFill>
              <a:srgbClr val="3D21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605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READ THIS ---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338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</a:t>
            </a: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permanently deletes commits from your branch. Use it only when the work is local, you've thought it through, and you've double-checked the SHA. When in doubt, </a:t>
            </a:r>
            <a:r>
              <a:rPr lang="en-US" sz="12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READING THE PAST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when, by whom.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inspection commands you'll run constantly.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HISTORY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0C1016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56616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</a:t>
            </a: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(HEAD -&gt; main)
</a:t>
            </a:r>
            <a:r>
              <a:rPr lang="en-US" sz="9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Alex Lee
</a:t>
            </a: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Mon Sep 14 10:23
</a:t>
            </a:r>
            <a:r>
              <a:rPr lang="en-US" sz="95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Refactor user model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0C1016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422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</a:t>
            </a:r>
            <a:r>
              <a:rPr lang="en-US" sz="85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user model
</a:t>
            </a:r>
            <a:r>
              <a:rPr lang="en-US" sz="8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9f8e7d6 </a:t>
            </a:r>
            <a:r>
              <a:rPr lang="en-US" sz="85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crash on empty input
</a:t>
            </a:r>
            <a:r>
              <a:rPr lang="en-US" sz="8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7c5b4a9 </a:t>
            </a:r>
            <a:r>
              <a:rPr lang="en-US" sz="850" dirty="0">
                <a:solidFill>
                  <a:srgbClr val="8A93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login form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BY 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3474720"/>
            <a:ext cx="4846320" cy="1920240"/>
          </a:xfrm>
          <a:prstGeom prst="roundRect">
            <a:avLst>
              <a:gd name="adj" fmla="val 2857"/>
            </a:avLst>
          </a:prstGeom>
          <a:solidFill>
            <a:srgbClr val="0C1016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35661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a/login.js
+++ b/login.js
</a:t>
            </a: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@@ -10,6 +10,8 @@
</a:t>
            </a:r>
            <a:r>
              <a:rPr lang="en-US" sz="9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function login(user, pass) {
</a:t>
            </a:r>
            <a:r>
              <a:rPr lang="en-US" sz="9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if (!user || !pass) return;
+  validate(user, pass);
</a:t>
            </a:r>
            <a:r>
              <a:rPr lang="en-US" sz="9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auth.send(user, pass);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3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852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shows what's about to land,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what you've edited since.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· CASE STUDY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of a feature: </a:t>
            </a:r>
            <a:r>
              <a:rPr lang="en-US" sz="30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validation.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steps, top to bottom. This is what it looks like when the room actually does the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6949440" cy="356616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JIRA-1234 · USER STORY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validation to the auth flow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204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176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8176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# start from latest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148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feature/login-validation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119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4119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&amp; test in your editor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9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&amp;  git diff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063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0063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  # interactive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035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login validation"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007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6007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feature/login-validation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97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8978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a PR / MR for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2651760"/>
            <a:ext cx="3931920" cy="3566160"/>
          </a:xfrm>
          <a:prstGeom prst="roundRect">
            <a:avLst>
              <a:gd name="adj" fmla="val 153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&amp; LAND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 to production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approvals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passes · merge · delete branch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tomorrow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· HABITS THAT PAY OFF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practices worth their weight.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laws. All of them save you from real trouble. Pick three to start with.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changes before starting 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feature/, bugfix/, hotfix/ prefixes.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small, focused commits.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97696" y="283464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2288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162288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meaningful messages in present tense.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178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434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secrets, API keys, or .env.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9584" y="4178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529584" y="4434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.gitignore for generated &amp; build files.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45936" y="4178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4434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 &amp; git diff before committing.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7696" y="406908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62288" y="4178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62288" y="4434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branches short-lived when possible.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413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5669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carefully — read both sides.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29584" y="5413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529584" y="5669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--force pushing shared branches.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81344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5413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345936" y="5669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stable; protect it with reviews &amp; CI.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97696" y="5303520"/>
            <a:ext cx="2651760" cy="1078992"/>
          </a:xfrm>
          <a:prstGeom prst="roundRect">
            <a:avLst>
              <a:gd name="adj" fmla="val 5085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62288" y="5413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162288" y="5669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releases. Treat them as immutable.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· DON'T DO THIS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worth avoiding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things I've seen cause real pain. Almost every developer has done at least two.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6265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346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17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straight to main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73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branch. Always. Even for a one-line fix.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96265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8346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017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 --force pushes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273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rewrite teammates' history.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2277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94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9776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commits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233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600-line commit hides bugs and breaks review.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70332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92277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794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PULLING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9776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without looking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233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rewrites your tree. Peek with fetch first when unsure.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88289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4754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CLARITY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4937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commit messages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5193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"changes" or "stuff" loses meaning the moment you write 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466344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88289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754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4937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Burying unresolved conflicts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5193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commit around them. Open the file, fix it, test, commit.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62356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584301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31520" y="5843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280160" y="5715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280160" y="5897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.env or API keys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280160" y="6153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you delete the file later, it lives in history.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562356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5843016"/>
            <a:ext cx="384048" cy="384048"/>
          </a:xfrm>
          <a:prstGeom prst="ellipse">
            <a:avLst/>
          </a:prstGeom>
          <a:solidFill>
            <a:srgbClr val="2A141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309360" y="5843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0" y="5715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AWARENESS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0" y="5897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git status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6153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seconds of inspection saves five hours of debug.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·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your terminal. I'll do it with you.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 a folder, init a repo, branch, edit, stage, commit, merge, and (if time) trigger a conflict.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 · INIT &amp; COMMIT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273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git-demo &amp;&amp; cd git-demo
$ git init
$ git 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87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"# Login form" &gt; login.js
$ git add .
$ git commit -m "Initial commit"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23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r>
              <a:rPr lang="en-US" sz="10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starts clean. After editing, it shows the new file. After </a:t>
            </a:r>
            <a:r>
              <a:rPr lang="en-US" sz="10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.</a:t>
            </a: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says "Changes to be committed."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 · BRANCH &amp; MERGE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32004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3273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7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feature/login
$ echo "validate(user)" &gt;&gt; login.js
$ git add . &amp;&amp; git commit -m "Add login feature"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492240" y="416052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0151C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42336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
$ git merge feature/login
$ git log --oneline --graph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212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permits: edit login.js on main AND on a new branch — then merge and resolve the markers.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·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screenshot this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categories. The commands grouped by what you're trying to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139696" cy="3611880"/>
          </a:xfrm>
          <a:prstGeom prst="roundRect">
            <a:avLst>
              <a:gd name="adj" fmla="val 2564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97480"/>
            <a:ext cx="2139696" cy="36576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8529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"..."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891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 "..."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98064" y="2697480"/>
            <a:ext cx="2139696" cy="3611880"/>
          </a:xfrm>
          <a:prstGeom prst="roundRect">
            <a:avLst>
              <a:gd name="adj" fmla="val 2564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2697480"/>
            <a:ext cx="2139696" cy="36576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80944" y="28529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80944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3520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3886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980944" y="42519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46177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49834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47488" y="2697480"/>
            <a:ext cx="2139696" cy="3611880"/>
          </a:xfrm>
          <a:prstGeom prst="roundRect">
            <a:avLst>
              <a:gd name="adj" fmla="val 2564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2697480"/>
            <a:ext cx="2139696" cy="36576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30368" y="28529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30368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3520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40233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&lt;name&gt;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230368" y="43891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96912" y="2697480"/>
            <a:ext cx="2139696" cy="3611880"/>
          </a:xfrm>
          <a:prstGeom prst="roundRect">
            <a:avLst>
              <a:gd name="adj" fmla="val 2564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2697480"/>
            <a:ext cx="2139696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79792" y="28529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COLLAB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3520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479792" y="3886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&lt;name&gt;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479792" y="42519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open 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/ MR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546336" y="2697480"/>
            <a:ext cx="2139696" cy="3611880"/>
          </a:xfrm>
          <a:prstGeom prst="roundRect">
            <a:avLst>
              <a:gd name="adj" fmla="val 2564"/>
            </a:avLst>
          </a:prstGeom>
          <a:solidFill>
            <a:srgbClr val="141A22"/>
          </a:solidFill>
          <a:ln w="12700">
            <a:solidFill>
              <a:srgbClr val="232B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46336" y="2697480"/>
            <a:ext cx="2139696" cy="36576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729216" y="28529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&lt;file&gt;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729216" y="3520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729216" y="40233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&lt;sha&gt;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729216" y="43891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&lt;sha&gt;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slide. Pin it on your monitor until five commands become muscle memory.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FF7A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5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· WHAT TO REMEMBER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things, if nothing else.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slide. Read it again before your next sprint planning.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32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your code history.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620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recorded, attributed, reachable.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532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meaningful changes.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8620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logical change per commit. Read your future-self's log like prose.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38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branches for features &amp; fixes.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67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are nearly free. Use them often; merge deliberately.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520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538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or fetch before collaborating.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867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latest shared state. Avoid stale local branches.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changes before pushing.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73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status, git diff --staged, then push.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526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carefully.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873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file, read both sides, choose, test, add, commit.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32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550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shared branches.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879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careless --force pushes. Use platform branch protection.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5532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5550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5879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tokens, .env. Use a secrets manager + .gitignore.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6968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 ·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841480" y="6510528"/>
            <a:ext cx="82296" cy="82296"/>
          </a:xfrm>
          <a:prstGeom prst="ellipse">
            <a:avLst/>
          </a:prstGeom>
          <a:solidFill>
            <a:srgbClr val="FF7A50"/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27432"/>
          </a:xfrm>
          <a:prstGeom prst="rect">
            <a:avLst/>
          </a:prstGeom>
          <a:solidFill>
            <a:srgbClr val="3ED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· DISCUSSION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1874520" y="2514600"/>
            <a:ext cx="256032" cy="256032"/>
          </a:xfrm>
          <a:prstGeom prst="ellipse">
            <a:avLst/>
          </a:prstGeom>
          <a:solidFill>
            <a:srgbClr val="FF7A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48840" y="123444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10332720" y="457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7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open it up. Or pick a thread from the right to get us started.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FF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Git and GitHub?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 rebase — which and when?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vs revert on a shared branch?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160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our team manage branches?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617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resolve a really nasty conflict?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0"/>
          </a:xfrm>
          <a:prstGeom prst="line">
            <a:avLst/>
          </a:prstGeom>
          <a:noFill/>
          <a:ln w="12700">
            <a:solidFill>
              <a:srgbClr val="232B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spending the hour with us.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 → next session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3433</Words>
  <Application>Microsoft Office PowerPoint</Application>
  <PresentationFormat>Widescreen</PresentationFormat>
  <Paragraphs>587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Version control for modern software development</dc:title>
  <dc:subject>PptxGenJS Presentation</dc:subject>
  <dc:creator>Sarvesh Gupta</dc:creator>
  <cp:lastModifiedBy>hp</cp:lastModifiedBy>
  <cp:revision>2</cp:revision>
  <dcterms:created xsi:type="dcterms:W3CDTF">2026-09-15T11:09:58Z</dcterms:created>
  <dcterms:modified xsi:type="dcterms:W3CDTF">2026-09-15T11:17:28Z</dcterms:modified>
</cp:coreProperties>
</file>